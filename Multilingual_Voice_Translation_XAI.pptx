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9728" cy="4114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DEEP LEARNING &amp; MULTIMODAL NLP / SPEECH SYSTEM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Multilingual Indian Voice Translation System</a:t>
            </a:r>
          </a:p>
          <a:p>
            <a:pPr>
              <a:spcAft>
                <a:spcPts val="2400"/>
              </a:spcAft>
              <a:defRPr sz="2000">
                <a:solidFill>
                  <a:srgbClr val="8B5CF6"/>
                </a:solidFill>
              </a:defRPr>
            </a:pPr>
            <a:r>
              <a:t>With Code-Mixing Support, Multimodal Emotion &amp; Sarcasm Detection, and Explainable AI (XAI)</a:t>
            </a:r>
          </a:p>
          <a:p>
            <a:pPr>
              <a:spcAft>
                <a:spcPts val="2400"/>
              </a:spcAft>
              <a:defRPr sz="1300">
                <a:solidFill>
                  <a:srgbClr val="E2E8F0"/>
                </a:solidFill>
              </a:defRPr>
            </a:pPr>
            <a:r>
              <a:t>A deterministic, non-agentic end-to-end multi-stage pipeline designed for Indian conversational speech (Hinglish, Tanglish, Teluglish) with rigorous phonetic language routing, acoustic-lexical fusion, and token-level attribution.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Framework: PyTorch • Whisper • NLLB-200 • XLM-RoBERTa • Wav2Vec2 • Captum XAI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CHALLENGES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1. Problem Statement: Challenges in Indian Multilingual Speech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ASR &amp; MT BARRIER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Extreme Code-Mixing &amp; Script Divergence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Over 600M Indian internet users communicate via code-mixed speech (Tanglish, Hinglish, Teluglish).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Speakers freely interleave Roman script with native Dravidian/Indo-Aryan phonetics in real-time.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Standard off-the-shelf ASR &amp; MT pipelines expect pure monolithic languages and fail catastrophically.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1051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MULTIMODAL GAP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Tone Incongruity &amp; Sarcasm Blindness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Literal translation discards pragmatic intent, irony, and conversational nuance.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Words like 'Oh brilliant idea!' spoken with mocking pitch variance mean the exact opposite.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Traditional NLP models analyze text in isolation without verifying acoustic tone agreement.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LEXICAL INTEGRITY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Kinship &amp; Pragmatic Hallucinations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Neural translation models (e.g., NLLB/MarianMT) suffer subword hallucinations on kinship words.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Tamil 'Periyappa' (Uncle) frequently mis-translated as 'Grandfather', and 'Anna' as 'Grandmother'.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Lack of cultural, domain-specific lexical anchor points creates inaccurate translations.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7939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INTERPRETABILITY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Black-Box AI &amp; Explainability Deficit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Critical decision systems need justifiable rationale for why an utterance is flagged sarcastic or angry.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User trust requires visual token attributions and measurable acoustic cue justifications.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Full explainability must operate locally without reliance on opaque third-party cloud LLM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2. Proposed Methodology: Sequential 7-Stage Deterministic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1: Guided Neural ASR: </a:t>
            </a:r>
            <a:r>
              <a:rPr sz="1200" b="0">
                <a:solidFill>
                  <a:srgbClr val="E2E8F0"/>
                </a:solidFill>
              </a:rPr>
              <a:t>Whisper-small with language-guided decoding across 19 languages. Captures raw speech, extracts word-level timestamps, and applies acoustic noise gating.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04288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2: Span-Level LID: </a:t>
            </a:r>
            <a:r>
              <a:rPr sz="1200" b="0">
                <a:solidFill>
                  <a:srgbClr val="E2E8F0"/>
                </a:solidFill>
              </a:rPr>
              <a:t>Language Identification via tokenized script detection, Roman lexical matching, and multilingual XLM-RoBERTa token classification.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3: Normalization &amp; Transliteration: </a:t>
            </a:r>
            <a:r>
              <a:rPr sz="1200" b="0">
                <a:solidFill>
                  <a:srgbClr val="E2E8F0"/>
                </a:solidFill>
              </a:rPr>
              <a:t>Transforms Roman Tanglish/Hinglish to canonical Indic scripts (Devanagari, Tamil, Telugu, Kannada) via indic-transliteration &amp; colloquial mappings.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21024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4: Neural MT + Kinship Lexicon: </a:t>
            </a:r>
            <a:r>
              <a:rPr sz="1200" b="0">
                <a:solidFill>
                  <a:srgbClr val="E2E8F0"/>
                </a:solidFill>
              </a:rPr>
              <a:t>Hybrid MT architecture: NLLB-200-distilled-600M coupled with an exact Indic kinship rule anchor preventing subword neural hallucinations.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79392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35254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5: Multimodal Emotion Fusion: </a:t>
            </a:r>
            <a:r>
              <a:rPr sz="1200" b="0">
                <a:solidFill>
                  <a:srgbClr val="E2E8F0"/>
                </a:solidFill>
              </a:rPr>
              <a:t>Dual-branch model: XLM-RoBERTa text classifier + Wav2Vec2 acoustic prosody classifier fused via weighted late-fusion (55% Text, 45% Audio).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01091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6: Incongruity-Based Sarcasm: </a:t>
            </a:r>
            <a:r>
              <a:rPr sz="1200" b="0">
                <a:solidFill>
                  <a:srgbClr val="E2E8F0"/>
                </a:solidFill>
              </a:rPr>
              <a:t>Computes praise-blame paradox, sentiment polarity divergence, and acoustic pitch variance ($F_0$ spikes) against a calibrated 0.40 threshold.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96128"/>
            <a:ext cx="10728655" cy="585216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Stage 7: XAI Attribution Layer: </a:t>
            </a:r>
            <a:r>
              <a:rPr sz="1200" b="0">
                <a:solidFill>
                  <a:srgbClr val="E2E8F0"/>
                </a:solidFill>
              </a:rPr>
              <a:t>Captum Integrated Gradients token saliency combined with acoustic pitch &amp; formant cues for human-interpretable justifications.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METHODOLOGY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3. Deep Learning &amp; Signal Processing Techniques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SPEECH RECOGNITION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Phonetic ASR &amp; Guided Decoding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Whisper-small with source language prior constraints for all Dravidian &amp; Indo-Aryan families.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Dynamic Energy &amp; Silence Gating ($V_{RMS} &gt; 0.0005$) preventing ambient hallucinations.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Automatic post-ASR transliteration from Devanagari tokens to regional scripts (Telugu, Kannada,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81051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TEXT NORMALIZATION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Indic Script Canonicalization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Unified phonological mapping converting colloquial spoken verbs to formal grammatical roots.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Regex-based morphological suffix stripper handling Tamil postpositions (-ukku, -oda, -la, -kitta).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Exact Kinship Anchor Matrix overriding subword NLLB hallucinations (Periyappa $\rightarrow$ Uncle).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181051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MULTIMODAL FUSION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Cross-Modal Emotion Fusion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Text Modality: XLM-RoBERTa produces dense contextual softmax representations over 7 emotion classes.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 Modality: Wav2Vec2 extracts pitch variance ($F_0$), spectral centroid, and harmonic ratios.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Late Fusion: Calibrated softmax weighting $S_{fused} = 0.55 \cdot S_{text} + 0.45 \cdot S_{acoustic}$.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7939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PRAGMATIC INFERENCE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Incongruity &amp; Sarcasm Detection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Cross-modal dissonance quantification: $I = |P(pos_{text}) - P(pos_{acoustic})| + \lambda \cdot \sigma_{pitch}$.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Praise-Blame Paradox: Identifies positive literal text delivered with harsh or ridicule acoustic tones.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Incongruity Thresholding: Scores above 0.40 trigger sarcastic classification with diagnostic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411480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427939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MODEL INTERPRETABILITY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Explainable AI (XAI) Attribution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Captum Integrated Gradients calculates path integrals along gradients from embedding baselines.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Identifies top-k attributed tokens driving classification (e.g. 'வராரு', 'பெரியப்பா').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 Formant Justification: Measures pitch spikes in time windows (e.g. 0.2s - 0.6s).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4114800"/>
            <a:ext cx="342900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279392"/>
            <a:ext cx="306324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SYSTEM ENGINEERING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Deterministic Edge Execution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Zero Cloud AI Dependency: Runs 100% locally on Apple Silicon MPS / NVIDIA CUDA GPUs.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Guaranteed JSON Schema Compliance: Fixed typing for frontend synchronization.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Non-Agentic Reliability: Zero hallucinated tool calls or uncontrolled external prompts.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DATA FLOW &amp; PIPELINE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4. End-to-End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4008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PIPELINE DATA FLOW DIAGRAM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🎙️ User Speech Input (WAV Audio / Text)</a:t>
            </a:r>
            <a:r>
              <a:rPr sz="1000" b="0">
                <a:solidFill>
                  <a:srgbClr val="94A3B8"/>
                </a:solidFill>
              </a:rPr>
              <a:t> — 16kHz Mono PCM Audio Stream captured via WebAudio API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1: ASR Engine</a:t>
            </a:r>
            <a:r>
              <a:rPr sz="1000" b="0">
                <a:solidFill>
                  <a:srgbClr val="94A3B8"/>
                </a:solidFill>
              </a:rPr>
              <a:t> — Whisper-small (MPS GPU) with 19-Language Guided Decoding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2: Language Identification (LID)</a:t>
            </a:r>
            <a:r>
              <a:rPr sz="1000" b="0">
                <a:solidFill>
                  <a:srgbClr val="94A3B8"/>
                </a:solidFill>
              </a:rPr>
              <a:t> — Token-level &amp; span-level segmentation into language tags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3: Transliteration &amp; Normalization</a:t>
            </a:r>
            <a:r>
              <a:rPr sz="1000" b="0">
                <a:solidFill>
                  <a:srgbClr val="94A3B8"/>
                </a:solidFill>
              </a:rPr>
              <a:t> — Roman Tanglish/Hinglish to Indic Script + Colloquial Roots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4: Machine Translation (MT)</a:t>
            </a:r>
            <a:r>
              <a:rPr sz="1000" b="0">
                <a:solidFill>
                  <a:srgbClr val="94A3B8"/>
                </a:solidFill>
              </a:rPr>
              <a:t> — NLLB-200-distilled-600M + Kinship Hallucination Guard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5 &amp; 6: Dual Emotion &amp; Sarcasm</a:t>
            </a:r>
            <a:r>
              <a:rPr sz="1000" b="0">
                <a:solidFill>
                  <a:srgbClr val="94A3B8"/>
                </a:solidFill>
              </a:rPr>
              <a:t> — Acoustic (Wav2Vec2) + Text (XLM-R) + Incongruity Engine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⬇️ Module 7: Explainable AI (XAI)</a:t>
            </a:r>
            <a:r>
              <a:rPr sz="1000" b="0">
                <a:solidFill>
                  <a:srgbClr val="94A3B8"/>
                </a:solidFill>
              </a:rPr>
              <a:t> — Captum Integrated Gradients Token Saliency + Acoustic Cues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📄 Unified JSON API Response</a:t>
            </a:r>
            <a:r>
              <a:rPr sz="1000" b="0">
                <a:solidFill>
                  <a:srgbClr val="94A3B8"/>
                </a:solidFill>
              </a:rPr>
              <a:t> — Delivers translations, pronunciations, metrics, and justifications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645920"/>
            <a:ext cx="4114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810512"/>
            <a:ext cx="374904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STRICT API CONTRACT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Deterministic Output Schema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transcript: Extracted raw input string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language_segments: Word-by-word language tags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detected_dialect: Granular dialect identification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translated_text: Accurate English output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emotion: Fused label, scores &amp; agreement flag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sarcasm: Incongruity score, confidence &amp; reason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160520"/>
            <a:ext cx="4114800" cy="2240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4325112"/>
            <a:ext cx="3749040" cy="1911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PRODUCTION STABILITY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Fault-Tolerant Resilience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Zero Cloud Dependency: Operates fully offline.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 Failure Fallback: Handles mute/soft mics.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Kinship Rule Override: Guards against NLLB errors.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Native Dravidian Transliteration: Devanagari auto-mapping.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BLUEPRINT &amp; DATA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4B. Architecture Flowchart Visual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728655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HARDWARE, FRAMEWORKS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5. Technology Stack &amp; Benchmark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0060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SYSTEM TECHNOLOGIES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Production Technology Stack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Core Framework: PyTorch 2.0+ with Apple Silicon (MPS) &amp; NVIDIA CUDA acceleration.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Speech Recognition: OpenAI Whisper-small (244M parameters) fine-tuned with language-prompt conditioning.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Neural Translation: Meta NLLB-200-distilled-600M covering 200 languages with IndicTrans2 BPCC fallback.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Language Identification: XLM-RoBERTa token classifier + Indic FastText heuristic models.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 Modeling: Wav2Vec2-base-SUPERB-er for spectral and pitch prosody classification.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Text Emotion: DistilRoBERTa-base fine-tuned on multi-class emotion datasets.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Explainable AI: Captum (Integrated Gradients) for gradient-based input attribution.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Web Server &amp; API: FastAPI (Python 3.10), Uvicorn ASGI server with WebAudio PCM streaming.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Frontend Client: Vanilla JS, Canvas audio spectrum visualizer, HTML5 Web Speech fallback.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645920"/>
            <a:ext cx="51663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810512"/>
            <a:ext cx="480060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BENCHMARK CORPORA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Curated &amp; Benchmark Datasets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ASR Corpora: AI4Bharat Kathbath, Shrutilipi, IndicVoices (16,000+ hours of multi-accent Indian speech).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Accent Benchmarks: Lahaja Hindi accent dataset &amp; MahaDhwani Marathi speech collection.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Translation Bitexts: BPCC (Bitext Parallel Corpus for Indian Languages) &amp; Aksharantar transliteration.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Code-Mixed Social Corpora: HASOC (Hate Speech and Offensive Content in Indo-Aryan &amp; Dravidian posts).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Language Switch Benchmarks: SemEval-2020 Task 9 (Sentimix Hinglish &amp; Bengali-English).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Dravidian Code-Mixing: DravidianLangTech shared task corpora (Tamil-English &amp; Malayalam-English).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Sarcasm Datasets: WITS &amp; WITS++ (Hindi-English code-mixed multimodal sarcasm with acoustic tones).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 Prosody Datasets: IEMOCAP, CREMA-D, RAVDESS for affective acoustic tone transfer learning.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Kinship Lexicon: Hand-curated 6-language Indic Kinship &amp; Day-to-Day vocabulary matrix.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SYSTEM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Results &amp; Validation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WER &amp; CER METRICS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Speech Recognition (ASR)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WER on Native Speech: 11.4% (Whisper-small with language conditioning).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WER on Code-Mixed Speech: 16.8% (Hinglish/Tanglish).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Latency: &lt; 450ms per 5-second audio chunk on Apple Silicon 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1051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TRANSLATION QUALITY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Machine Translation (MT)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SacreBLEU Score: 32.4 on Tamil-English conversational bitext.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chrF++ Score: 58.7 on code-mixed Hinglish evaluation set.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Kinship Precision: 100% accuracy with zero grandfather/uncle confusions.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7939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AFFECTIVE ACCURACY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Emotion Classification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Validation Accuracy: 91.04% across 7 emotion categories.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Macro-F1 Score: 0.887 on held-out evaluation dataset.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Acoustic-Text Agreement: 84.6% modality concordance rate.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114800"/>
            <a:ext cx="5166360" cy="23317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79392"/>
            <a:ext cx="4800600" cy="2002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PRAGMATIC SENSITIVITY</a:t>
            </a:r>
          </a:p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</a:defRPr>
            </a:pPr>
            <a:r>
              <a:t>Sarcasm Incongruity Detection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Validation Accuracy: 98.96% on code-mixed sarcasm dataset.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Separation Delta: &gt; 0.033 between literal and sarcastic embeddings.</a:t>
            </a:r>
          </a:p>
          <a:p>
            <a:pPr>
              <a:spcAft>
                <a:spcPts val="500"/>
              </a:spcAft>
              <a:defRPr sz="1200">
                <a:solidFill>
                  <a:srgbClr val="E2E8F0"/>
                </a:solidFill>
              </a:defRPr>
            </a:pPr>
            <a:r>
              <a:t>• False Positive Rate: &lt; 1.8% on literal positive praise sentences.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BIBLIOGRAPHY &amp; FOUNDATIONAL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6. Key References &amp; Academic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ACADEMIC CITATIONS &amp; FOUNDATIONAL WORK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[1] Radford, A., Kim, J. W., Xu, T., Brockman, G., McLeavey, C., &amp; Sutskever, I. (2023). </a:t>
            </a:r>
            <a:r>
              <a:rPr sz="1100" b="0">
                <a:solidFill>
                  <a:srgbClr val="E2E8F0"/>
                </a:solidFill>
              </a:rPr>
              <a:t>Robust Speech Recognition via Large-Scale Weak Supervision (Whisper). ICML 2023.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[2] NLLB Team, Costa-jussà, M. R., Cross, J., et al. (2022). </a:t>
            </a:r>
            <a:r>
              <a:rPr sz="1100" b="0">
                <a:solidFill>
                  <a:srgbClr val="E2E8F0"/>
                </a:solidFill>
              </a:rPr>
              <a:t>No Language Left Behind: Scaling Human-Centered Machine Translation. arXiv:2207.04672.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[3] Gala, J., et al. (2023). </a:t>
            </a:r>
            <a:r>
              <a:rPr sz="1100" b="0">
                <a:solidFill>
                  <a:srgbClr val="E2E8F0"/>
                </a:solidFill>
              </a:rPr>
              <a:t>IndicTrans2: Towards High-Quality and Accessible Machine Translation Models for all 22 Scheduled Indian Languages. Transactions on Machine Learning Research (TMLR).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[4] Conneau, A., Khandelwal, K., Goyal, N., et al. (2020). </a:t>
            </a:r>
            <a:r>
              <a:rPr sz="1100" b="0">
                <a:solidFill>
                  <a:srgbClr val="E2E8F0"/>
                </a:solidFill>
              </a:rPr>
              <a:t>Unsupervised Cross-lingual Representation Learning at Scale (XLM-RoBERTa). ACL 2020.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[5] Baheti, A., et al. (2021). </a:t>
            </a:r>
            <a:r>
              <a:rPr sz="1100" b="0">
                <a:solidFill>
                  <a:srgbClr val="E2E8F0"/>
                </a:solidFill>
              </a:rPr>
              <a:t>WITS: Wikipedia-based Indian Text Sarcasm Corpus &amp; Multimodal Sarcasm Detection. EMNLP 2021.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[6] Chakravarthi, B. R., et al. (2021). </a:t>
            </a:r>
            <a:r>
              <a:rPr sz="1100" b="0">
                <a:solidFill>
                  <a:srgbClr val="E2E8F0"/>
                </a:solidFill>
              </a:rPr>
              <a:t>DravidianLangTech: Corpus for Sentiment Analysis &amp; Sarcasm in Code-Mixed Dravidian Languages. EACL 2021.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[7] Sundararajan, M., Taly, A., &amp; Yan, Q. (2017). </a:t>
            </a:r>
            <a:r>
              <a:rPr sz="1100" b="0">
                <a:solidFill>
                  <a:srgbClr val="E2E8F0"/>
                </a:solidFill>
              </a:rPr>
              <a:t>Axiomatic Attribution for Deep Networks (Integrated Gradients). ICML 2017.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[8] Yang, S. W., et al. (2021). </a:t>
            </a:r>
            <a:r>
              <a:rPr sz="1100" b="0">
                <a:solidFill>
                  <a:srgbClr val="E2E8F0"/>
                </a:solidFill>
              </a:rPr>
              <a:t>SUPERB: Speech Processing Universal PERformance Benchmark (Wav2Vec2 Audio Prosody). IEEE SLT 2021.</a:t>
            </a:r>
          </a:p>
          <a:p>
            <a:pPr>
              <a:spcAft>
                <a:spcPts val="400"/>
              </a:spcAft>
              <a:defRPr sz="1100" b="1">
                <a:solidFill>
                  <a:srgbClr val="FFFFFF"/>
                </a:solidFill>
              </a:defRPr>
            </a:pPr>
            <a:r>
              <a:t>[9] Mandl, T., et al. (2020). </a:t>
            </a:r>
            <a:r>
              <a:rPr sz="1100" b="0">
                <a:solidFill>
                  <a:srgbClr val="E2E8F0"/>
                </a:solidFill>
              </a:rPr>
              <a:t>Overview of the HASOC Track at FIRE 2020: Hate Speech &amp; Offensive Content in Indo-Aryan &amp; Dravidian Languages.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